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</p:sldIdLst>
  <p:sldSz cx="12192000" cy="6858000"/>
  <p:notesSz cx="6858000" cy="9144000"/>
  <p:embeddedFontLst>
    <p:embeddedFont>
      <p:font typeface="Plus Jakarta Sans"/>
      <p:bold r:id="rId9"/>
    </p:embeddedFont>
    <p:embeddedFont>
      <p:font typeface="Space Grotesk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98090" y="3145502"/>
            <a:ext cx="510294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830"/>
              </a:lnSpc>
            </a:pPr>
            <a:r>
              <a:rPr lang="en-US" sz="4200" b="1" i="0" u="sng" dirty="0">
                <a:solidFill>
                  <a:srgbClr val="FFFFFF"/>
                </a:solidFill>
                <a:latin typeface="Space Grotesk"/>
              </a:rPr>
              <a:t>Sayali</a:t>
            </a:r>
            <a:r>
              <a:rPr lang="en-IN" sz="4200" b="1" i="0" u="sng" dirty="0">
                <a:solidFill>
                  <a:srgbClr val="FFFFFF"/>
                </a:solidFill>
                <a:latin typeface="Space Grotesk"/>
              </a:rPr>
              <a:t> </a:t>
            </a:r>
            <a:r>
              <a:rPr lang="en-US" sz="4200" b="1" u="sng" dirty="0">
                <a:solidFill>
                  <a:srgbClr val="FFFFFF"/>
                </a:solidFill>
                <a:latin typeface="Space Grotesk"/>
              </a:rPr>
              <a:t>P</a:t>
            </a:r>
            <a:r>
              <a:rPr lang="en-US" sz="4200" b="1" i="0" u="sng" dirty="0">
                <a:solidFill>
                  <a:srgbClr val="FFFFFF"/>
                </a:solidFill>
                <a:latin typeface="Space Grotesk"/>
              </a:rPr>
              <a:t>atil </a:t>
            </a:r>
            <a:endParaRPr sz="4200" b="1" i="0" u="sng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62852-641E-E57A-B0A0-EF9727D1906F}"/>
              </a:ext>
            </a:extLst>
          </p:cNvPr>
          <p:cNvSpPr txBox="1"/>
          <p:nvPr/>
        </p:nvSpPr>
        <p:spPr>
          <a:xfrm>
            <a:off x="609600" y="1799303"/>
            <a:ext cx="87310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Space Grotesk"/>
              </a:rPr>
              <a:t>Project 5:  </a:t>
            </a:r>
            <a:r>
              <a:rPr lang="en-IN" sz="4000" b="1" dirty="0" err="1">
                <a:solidFill>
                  <a:srgbClr val="FFFFFF"/>
                </a:solidFill>
                <a:latin typeface="Space Grotesk"/>
              </a:rPr>
              <a:t>TellCo</a:t>
            </a:r>
            <a:r>
              <a:rPr lang="en-IN" sz="4000" b="1" dirty="0">
                <a:solidFill>
                  <a:srgbClr val="FFFFFF"/>
                </a:solidFill>
                <a:latin typeface="Space Grotesk"/>
              </a:rPr>
              <a:t> Telecom User Analytics</a:t>
            </a:r>
          </a:p>
          <a:p>
            <a:endParaRPr lang="en-IN" sz="3600" b="1" dirty="0">
              <a:solidFill>
                <a:schemeClr val="bg1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95975" y="2597348"/>
            <a:ext cx="5686425" cy="2505075"/>
          </a:xfrm>
          <a:prstGeom prst="roundRect">
            <a:avLst>
              <a:gd name="adj" fmla="val 4562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897260"/>
            <a:ext cx="5057775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49810"/>
            <a:ext cx="5057775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602360"/>
            <a:ext cx="5057775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16017" y="3845123"/>
            <a:ext cx="404619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173485"/>
            <a:ext cx="21907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526035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878585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Project Architecture &amp; Key Highlights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135385"/>
            <a:ext cx="5726906" cy="2190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Total Customer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430660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Analyzed data across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89,700 unique telecom customers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with comprehensive session tracking.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487935"/>
            <a:ext cx="5726906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Traffic 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783210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Gaming and Other traffic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overwhelmingly dominate overall data usage (over 120T Bytes combined).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840485"/>
            <a:ext cx="5726906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Machine Learning Segmentation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135760"/>
            <a:ext cx="4676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Engineered Engagement, Experience, and Satisfaction clusters using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K-Means Clustering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8078" y="2911673"/>
            <a:ext cx="6322218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2563EB"/>
                </a:solidFill>
                <a:latin typeface="Space Grotesk"/>
              </a:rPr>
              <a:t>148,935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8078" y="3445073"/>
            <a:ext cx="6322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Plus Jakarta Sans"/>
              </a:rPr>
              <a:t>TOTAL SESSIONS CAPTURED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8078" y="4083248"/>
            <a:ext cx="6322218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2563EB"/>
                </a:solidFill>
                <a:latin typeface="Space Grotesk"/>
              </a:rPr>
              <a:t>73,833.16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8078" y="4616648"/>
            <a:ext cx="6322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Plus Jakarta Sans"/>
              </a:rPr>
              <a:t>TOTAL AGGREGATE DATA TRAFFIC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13537" y="1299120"/>
            <a:ext cx="4468862" cy="1414462"/>
          </a:xfrm>
          <a:prstGeom prst="roundRect">
            <a:avLst>
              <a:gd name="adj" fmla="val 808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13537" y="2877889"/>
            <a:ext cx="4468862" cy="1414462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13537" y="4456658"/>
            <a:ext cx="4468862" cy="1414462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9120"/>
            <a:ext cx="6275337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308645"/>
            <a:ext cx="6256287" cy="4552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Customer Scale &amp; Traffic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662" y="1537245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Headline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662" y="1832520"/>
            <a:ext cx="4087862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3A8A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1E3A8A"/>
                </a:solidFill>
                <a:latin typeface="Plus Jakarta Sans"/>
              </a:rPr>
              <a:t>89,700</a:t>
            </a:r>
            <a:r>
              <a:rPr sz="1125" b="0" i="0" u="none">
                <a:solidFill>
                  <a:srgbClr val="1E3A8A"/>
                </a:solidFill>
                <a:latin typeface="Plus Jakarta Sans"/>
              </a:rPr>
              <a:t> active customers</a:t>
            </a:r>
            <a:r>
              <a:t>
</a:t>
            </a:r>
            <a:r>
              <a:rPr sz="1125" b="0" i="0" u="none">
                <a:solidFill>
                  <a:srgbClr val="1E3A8A"/>
                </a:solidFill>
                <a:latin typeface="Plus Jakarta Sans"/>
              </a:rPr>
              <a:t> • </a:t>
            </a:r>
            <a:r>
              <a:rPr sz="1125" b="1" i="0" u="none">
                <a:solidFill>
                  <a:srgbClr val="1E3A8A"/>
                </a:solidFill>
                <a:latin typeface="Plus Jakarta Sans"/>
              </a:rPr>
              <a:t>148,935</a:t>
            </a:r>
            <a:r>
              <a:rPr sz="1125" b="0" i="0" u="none">
                <a:solidFill>
                  <a:srgbClr val="1E3A8A"/>
                </a:solidFill>
                <a:latin typeface="Plus Jakarta Sans"/>
              </a:rPr>
              <a:t> user sessions</a:t>
            </a:r>
            <a:r>
              <a:t>
</a:t>
            </a:r>
            <a:r>
              <a:rPr sz="1125" b="0" i="0" u="none">
                <a:solidFill>
                  <a:srgbClr val="1E3A8A"/>
                </a:solidFill>
                <a:latin typeface="Plus Jakarta Sans"/>
              </a:rPr>
              <a:t> • </a:t>
            </a:r>
            <a:r>
              <a:rPr sz="1125" b="1" i="0" u="none">
                <a:solidFill>
                  <a:srgbClr val="1E3A8A"/>
                </a:solidFill>
                <a:latin typeface="Plus Jakarta Sans"/>
              </a:rPr>
              <a:t>73,833.16 GB</a:t>
            </a:r>
            <a:r>
              <a:rPr sz="1125" b="0" i="0" u="none">
                <a:solidFill>
                  <a:srgbClr val="1E3A8A"/>
                </a:solidFill>
                <a:latin typeface="Plus Jakarta Sans"/>
              </a:rPr>
              <a:t> total network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662" y="3116014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Application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662" y="3411289"/>
            <a:ext cx="4087862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Gaming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and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Other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represent peak bandwidth usage. YouTube, Netflix, Google, Email, and Social Media follow with significantly lower volumes.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662" y="4694783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Business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662" y="4990058"/>
            <a:ext cx="4087862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Infrastructure optimization should prioritize high-throughput gaming protocols to preserve quality of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13537" y="1299120"/>
            <a:ext cx="4468862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13537" y="2770733"/>
            <a:ext cx="4468862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13537" y="4670970"/>
            <a:ext cx="4468862" cy="1200150"/>
          </a:xfrm>
          <a:prstGeom prst="roundRect">
            <a:avLst>
              <a:gd name="adj" fmla="val 952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9120"/>
            <a:ext cx="6275337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308645"/>
            <a:ext cx="6256287" cy="4552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User Engagement Clustering &amp;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662" y="1537245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Engagement Clusters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662" y="1832520"/>
            <a:ext cx="408786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Users segmented based on session frequency, duration, and session traffic using K-Means clustering.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662" y="3008858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Cluster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662" y="3304133"/>
            <a:ext cx="4087862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Cluster 0 (Primary):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Regular baseline users (~78k customers)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Cluster 2 (Power Users):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High engagement cohort (~11k customers)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662" y="4909095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Key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662" y="5204370"/>
            <a:ext cx="408786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4532D"/>
                </a:solidFill>
                <a:latin typeface="Plus Jakarta Sans"/>
              </a:rPr>
              <a:t>Target Cluster 2 power users with tailored high-bandwidth loyalty plans.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13537" y="1299120"/>
            <a:ext cx="4468862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13537" y="2770733"/>
            <a:ext cx="4468862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13537" y="4670970"/>
            <a:ext cx="4468862" cy="1200150"/>
          </a:xfrm>
          <a:prstGeom prst="roundRect">
            <a:avLst>
              <a:gd name="adj" fmla="val 952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9120"/>
            <a:ext cx="6275337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308645"/>
            <a:ext cx="6256287" cy="4552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Network Experience &amp; Quality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662" y="1537245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Network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662" y="1832520"/>
            <a:ext cx="408786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Evaluated throughput, round-trip time (RTT), and TCP retransmission rates across customer devices.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662" y="3008858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Experience Clusters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662" y="3304133"/>
            <a:ext cx="4087862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Cluster 0: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High quality / low latency (~35k customers)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Cluster 1: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Moderate network performance (~30k customers)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Cluster 2: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Network degradation issues (~22k customers)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662" y="4909095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Optimization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662" y="5204370"/>
            <a:ext cx="408786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7F1D1D"/>
                </a:solidFill>
                <a:latin typeface="Plus Jakarta Sans"/>
              </a:rPr>
              <a:t>Investigate Cluster 2 device types and cell towers to resolve latency bottlenecks.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13537" y="1299120"/>
            <a:ext cx="4468862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13537" y="2877889"/>
            <a:ext cx="4468862" cy="1414462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13537" y="4670970"/>
            <a:ext cx="4468862" cy="1200150"/>
          </a:xfrm>
          <a:prstGeom prst="roundRect">
            <a:avLst>
              <a:gd name="adj" fmla="val 9523"/>
            </a:avLst>
          </a:prstGeom>
          <a:solidFill>
            <a:srgbClr val="FFFBE0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9120"/>
            <a:ext cx="6275337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308645"/>
            <a:ext cx="6256287" cy="4552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Engagement &amp; Experience Combination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662" y="1537245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Satisfaction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662" y="1832520"/>
            <a:ext cx="408786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Combined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Engagement Score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and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Experience Score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via Euclidean distance modeling to assign satisfaction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662" y="3116014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Overall Average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662" y="3411289"/>
            <a:ext cx="4087862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0.37 / 100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— Highlights significant potential to uplift overall network satisfaction by improving low-performing clusters.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662" y="4909095"/>
            <a:ext cx="48403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854D0E"/>
                </a:solidFill>
                <a:latin typeface="Plus Jakarta Sans"/>
              </a:rPr>
              <a:t>Strategic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662" y="5204370"/>
            <a:ext cx="408786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713F12"/>
                </a:solidFill>
                <a:latin typeface="Plus Jakarta Sans"/>
              </a:rPr>
              <a:t>Convert low-satisfaction accounts into loyal users through targeted network upgrades.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9875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TellCo Telecom User Analytics dashboard provides a clear starting point for understanding customer scale, session activity and application-level traffic.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3AFD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Value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700">
                <a:solidFill>
                  <a:srgbClr val="FFFFFF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Consolidates high-level metrics in one interface.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700">
                <a:solidFill>
                  <a:srgbClr val="FFFFFF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Makes traffic concentration easier to spot.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700">
                <a:solidFill>
                  <a:srgbClr val="FFFFFF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Creates a navigable structure for engagement, experience and satisfaction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23AFD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392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Space Grotesk</vt:lpstr>
      <vt:lpstr>Plus Jakarta Sans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PKSweb</cp:lastModifiedBy>
  <cp:revision>3</cp:revision>
  <dcterms:created xsi:type="dcterms:W3CDTF">2013-01-27T09:14:16Z</dcterms:created>
  <dcterms:modified xsi:type="dcterms:W3CDTF">2026-10-12T03:51:17Z</dcterms:modified>
  <cp:category/>
</cp:coreProperties>
</file>